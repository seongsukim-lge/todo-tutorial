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3291840" cy="3291840"/>
          </a:xfrm>
          <a:prstGeom prst="ellipse">
            <a:avLst/>
          </a:prstGeom>
          <a:solidFill>
            <a:srgbClr val="D97757">
              <a:alpha val="12000"/>
            </a:srgbClr>
          </a:solidFill>
          <a:ln w="12700">
            <a:solidFill>
              <a:srgbClr val="D9775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1920240"/>
            <a:ext cx="1463040" cy="14630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4" name="Image 0" descr="C:\Users\blueday\AppData\Local\Temp\claude\C--Users-blueday-Documents-Lecture-claude-code2-todo-tutorial\389ffc08-7b73-440c-b5b7-f5d2b0b00778\scratchpad\ppt\icons\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2860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강의 실습 프로젝트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Tutorial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Next.js와 shadcn/ui로 만드는 Todo 앱, Claude Code로 배우는 점진적 개발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526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76272" y="452628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/>
        </p:spPr>
      </p:sp>
      <p:sp>
        <p:nvSpPr>
          <p:cNvPr id="11" name="Text 8"/>
          <p:cNvSpPr/>
          <p:nvPr/>
        </p:nvSpPr>
        <p:spPr>
          <a:xfrm>
            <a:off x="2176272" y="45262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02736" y="4526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/>
        </p:spPr>
      </p:sp>
      <p:sp>
        <p:nvSpPr>
          <p:cNvPr id="13" name="Text 10"/>
          <p:cNvSpPr/>
          <p:nvPr/>
        </p:nvSpPr>
        <p:spPr>
          <a:xfrm>
            <a:off x="3602736" y="4526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30368" y="452628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/>
        </p:spPr>
      </p:sp>
      <p:sp>
        <p:nvSpPr>
          <p:cNvPr id="15" name="Text 12"/>
          <p:cNvSpPr/>
          <p:nvPr/>
        </p:nvSpPr>
        <p:spPr>
          <a:xfrm>
            <a:off x="5230368" y="45262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57416" y="4526280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/>
        </p:spPr>
      </p:sp>
      <p:sp>
        <p:nvSpPr>
          <p:cNvPr id="17" name="Text 14"/>
          <p:cNvSpPr/>
          <p:nvPr/>
        </p:nvSpPr>
        <p:spPr>
          <a:xfrm>
            <a:off x="6757416" y="4526280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todo-tutorial  ·  branch ch06-04  · 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5" name="Image 0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1952244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28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+ shadcn/ui 기반의 실습용 Todo 앱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8" name="Image 1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2912364"/>
            <a:ext cx="155448" cy="1554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활용법을 단계별로 익히는 강의 실습 저장소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1" name="Image 2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3872484"/>
            <a:ext cx="155448" cy="155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하나당 커밋 하나 — Conventional Commits로 점진적 구현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754880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4" name="Image 3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4832604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709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Library로 테스트까지 포함한 실전형 커리큘럼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309360" y="1828800"/>
            <a:ext cx="2560320" cy="1851660"/>
          </a:xfrm>
          <a:prstGeom prst="roundRect">
            <a:avLst>
              <a:gd name="adj" fmla="val 4938"/>
            </a:avLst>
          </a:prstGeom>
          <a:solidFill>
            <a:srgbClr val="F4F3F5"/>
          </a:solidFill>
          <a:ln/>
        </p:spPr>
      </p:sp>
      <p:sp>
        <p:nvSpPr>
          <p:cNvPr id="17" name="Text 11"/>
          <p:cNvSpPr/>
          <p:nvPr/>
        </p:nvSpPr>
        <p:spPr>
          <a:xfrm>
            <a:off x="6537960" y="2057400"/>
            <a:ext cx="2103120" cy="10184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8" name="Text 12"/>
          <p:cNvSpPr/>
          <p:nvPr/>
        </p:nvSpPr>
        <p:spPr>
          <a:xfrm>
            <a:off x="6537960" y="3087929"/>
            <a:ext cx="21031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커리큘럼 챕터 (ch02~ch09)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098280" y="1828800"/>
            <a:ext cx="2560320" cy="1851660"/>
          </a:xfrm>
          <a:prstGeom prst="roundRect">
            <a:avLst>
              <a:gd name="adj" fmla="val 4938"/>
            </a:avLst>
          </a:prstGeom>
          <a:solidFill>
            <a:srgbClr val="F4F3F5"/>
          </a:solidFill>
          <a:ln/>
        </p:spPr>
      </p:sp>
      <p:sp>
        <p:nvSpPr>
          <p:cNvPr id="20" name="Text 14"/>
          <p:cNvSpPr/>
          <p:nvPr/>
        </p:nvSpPr>
        <p:spPr>
          <a:xfrm>
            <a:off x="9326880" y="2057400"/>
            <a:ext cx="2103120" cy="10184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9326880" y="3087929"/>
            <a:ext cx="21031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구현된 핵심 기능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309360" y="3909060"/>
            <a:ext cx="2560320" cy="1851660"/>
          </a:xfrm>
          <a:prstGeom prst="roundRect">
            <a:avLst>
              <a:gd name="adj" fmla="val 4938"/>
            </a:avLst>
          </a:prstGeom>
          <a:solidFill>
            <a:srgbClr val="F4F3F5"/>
          </a:solidFill>
          <a:ln/>
        </p:spPr>
      </p:sp>
      <p:sp>
        <p:nvSpPr>
          <p:cNvPr id="23" name="Text 17"/>
          <p:cNvSpPr/>
          <p:nvPr/>
        </p:nvSpPr>
        <p:spPr>
          <a:xfrm>
            <a:off x="6537960" y="4137660"/>
            <a:ext cx="2103120" cy="10184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24" name="Text 18"/>
          <p:cNvSpPr/>
          <p:nvPr/>
        </p:nvSpPr>
        <p:spPr>
          <a:xfrm>
            <a:off x="6537960" y="5168189"/>
            <a:ext cx="21031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테스트 파일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098280" y="3909060"/>
            <a:ext cx="2560320" cy="1851660"/>
          </a:xfrm>
          <a:prstGeom prst="roundRect">
            <a:avLst>
              <a:gd name="adj" fmla="val 4938"/>
            </a:avLst>
          </a:prstGeom>
          <a:solidFill>
            <a:srgbClr val="F4F3F5"/>
          </a:solidFill>
          <a:ln/>
        </p:spPr>
      </p:sp>
      <p:sp>
        <p:nvSpPr>
          <p:cNvPr id="26" name="Text 20"/>
          <p:cNvSpPr/>
          <p:nvPr/>
        </p:nvSpPr>
        <p:spPr>
          <a:xfrm>
            <a:off x="9326880" y="4137660"/>
            <a:ext cx="2103120" cy="10184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</a:t>
            </a:r>
            <a:endParaRPr lang="en-US" sz="4600" dirty="0"/>
          </a:p>
        </p:txBody>
      </p:sp>
      <p:sp>
        <p:nvSpPr>
          <p:cNvPr id="27" name="Text 21"/>
          <p:cNvSpPr/>
          <p:nvPr/>
        </p:nvSpPr>
        <p:spPr>
          <a:xfrm>
            <a:off x="9326880" y="5168189"/>
            <a:ext cx="21031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매니저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2996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6" name="Image 0" descr="C:\Users\blueday\AppData\Local\Temp\claude\C--Users-blueday-Documents-Lecture-claude-code2-todo-tutorial\389ffc08-7b73-440c-b5b7-f5d2b0b00778\scratchpad\ppt\icons\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21506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Turbopack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0824" y="182880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3591992" y="202996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1" name="Image 1" descr="C:\Users\blueday\AppData\Local\Temp\claude\C--Users-blueday-Documents-Lecture-claude-code2-todo-tutorial\389ffc08-7b73-440c-b5b7-f5d2b0b00778\scratchpad\ppt\icons\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693" y="21506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3704" y="26974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73704" y="306324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컴포넌트 라이브러리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3008" y="182880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434176" y="202996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6" name="Image 2" descr="C:\Users\blueday\AppData\Local\Temp\claude\C--Users-blueday-Documents-Lecture-claude-code2-todo-tutorial\389ffc08-7b73-440c-b5b7-f5d2b0b00778\scratchpad\ppt\icons\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76" y="215066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5888" y="26974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15888" y="306324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타입 시스템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75191" y="182880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20" name="Shape 15"/>
          <p:cNvSpPr/>
          <p:nvPr/>
        </p:nvSpPr>
        <p:spPr>
          <a:xfrm>
            <a:off x="9276359" y="202996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21" name="Image 3" descr="C:\Users\blueday\AppData\Local\Temp\claude\C--Users-blueday-Documents-Lecture-claude-code2-todo-tutorial\389ffc08-7b73-440c-b5b7-f5d2b0b00778\scratchpad\ppt\icons\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060" y="215066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8071" y="26974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58071" y="306324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유틸리티 스타일링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206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40740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26" name="Image 4" descr="C:\Users\blueday\AppData\Local\Temp\claude\C--Users-blueday-Documents-Lecture-claude-code2-todo-tutorial\389ffc08-7b73-440c-b5b7-f5d2b0b00778\scratchpad\ppt\icons\spark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9" y="452810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5074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31520" y="54406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radix-mira 스타일 컴포넌트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90824" y="4206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30" name="Shape 23"/>
          <p:cNvSpPr/>
          <p:nvPr/>
        </p:nvSpPr>
        <p:spPr>
          <a:xfrm>
            <a:off x="3591992" y="440740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31" name="Image 5" descr="C:\Users\blueday\AppData\Local\Temp\claude\C--Users-blueday-Documents-Lecture-claude-code2-todo-tutorial\389ffc08-7b73-440c-b5b7-f5d2b0b00778\scratchpad\ppt\icons\testtu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693" y="452810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73704" y="5074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RTL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73704" y="54406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· 통합 테스트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33008" y="4206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35" name="Shape 27"/>
          <p:cNvSpPr/>
          <p:nvPr/>
        </p:nvSpPr>
        <p:spPr>
          <a:xfrm>
            <a:off x="6434176" y="440740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36" name="Image 6" descr="C:\Users\blueday\AppData\Local\Temp\claude\C--Users-blueday-Documents-Lecture-claude-code2-todo-tutorial\389ffc08-7b73-440c-b5b7-f5d2b0b00778\scratchpad\ppt\icons\mo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876" y="4528109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15888" y="5074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next-themes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15888" y="54406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다크모드 ('d' 키 토글)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75191" y="4206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F4F3F5"/>
          </a:solidFill>
          <a:ln/>
        </p:spPr>
      </p:sp>
      <p:sp>
        <p:nvSpPr>
          <p:cNvPr id="40" name="Shape 31"/>
          <p:cNvSpPr/>
          <p:nvPr/>
        </p:nvSpPr>
        <p:spPr>
          <a:xfrm>
            <a:off x="9276359" y="4407408"/>
            <a:ext cx="502920" cy="50292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41" name="Image 7" descr="C:\Users\blueday\AppData\Local\Temp\claude\C--Users-blueday-Documents-Lecture-claude-code2-todo-tutorial\389ffc08-7b73-440c-b5b7-f5d2b0b00778\scratchpad\ppt\icons\fold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7060" y="4528109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58071" y="5074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258071" y="54406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매니저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1C1C2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layout.tsx, page.tsx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ui/            (shadcn 원본, 수정 금지)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todo-*.tsx     (입력·목록·필터·정렬)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use-todos.ts   (localStorage CRUD)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types.ts, todo-utils.ts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rules/, skills/commit/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7" name="Image 0" descr="C:\Users\blueday\AppData\Local\Temp\claude\C--Users-blueday-Documents-Lecture-claude-code2-todo-tutorial\389ffc08-7b73-440c-b5b7-f5d2b0b00778\scratchpad\ppt\icons\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220" y="19431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280" y="18013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12280" y="21214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— 레이아웃과 메인 페이지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578608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1" name="Image 1" descr="C:\Users\blueday\AppData\Local\Temp\claude\C--Users-blueday-Documents-Lecture-claude-code2-todo-tutorial\389ffc08-7b73-440c-b5b7-f5d2b0b00778\scratchpad\ppt\icons\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26929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25511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12280" y="28712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 원본 + Todo 전용 컴포넌트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3328416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5" name="Image 2" descr="C:\Users\blueday\AppData\Local\Temp\claude\C--Users-blueday-Documents-Lecture-claude-code2-todo-tutorial\389ffc08-7b73-440c-b5b7-f5d2b0b00778\scratchpad\ppt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344271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33009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812280" y="36210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use-todos — localStorage 기반 CRUD 훅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4078224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9" name="Image 3" descr="C:\Users\blueday\AppData\Local\Temp\claude\C--Users-blueday-Documents-Lecture-claude-code2-todo-tutorial\389ffc08-7b73-440c-b5b7-f5d2b0b00778\scratchpad\ppt\icons\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419252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40507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12280" y="43708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정의와 정렬 · 검색 순수 함수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4828032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23" name="Image 4" descr="C:\Users\blueday\AppData\Local\Temp\claude\C--Users-blueday-Documents-Lecture-claude-code2-todo-tutorial\389ffc08-7b73-440c-b5b7-f5d2b0b00778\scratchpad\ppt\icons\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494233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12280" y="48006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812280" y="5120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규칙(rules) · 커밋 자동화 Skill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 — 9가지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6" name="Image 0" descr="C:\Users\blueday\AppData\Local\Temp\claude\C--Users-blueday-Documents-Lecture-claude-code2-todo-tutorial\389ffc08-7b73-440c-b5b7-f5d2b0b00778\scratchpad\ppt\icons\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1993758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2316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인라인 편집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74320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· 삭제 · 토글, localStorage 저장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8218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4539386" y="18928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1" name="Image 1" descr="C:\Users\blueday\AppData\Local\Temp\claude\C--Users-blueday-Documents-Lecture-claude-code2-todo-tutorial\389ffc08-7b73-440c-b5b7-f5d2b0b00778\scratchpad\ppt\icons\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336" y="199375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9386" y="242316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39386" y="274320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 · 보통 · 낮음 색상 뱃지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8965" y="18928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6" name="Image 2" descr="C:\Users\blueday\AppData\Local\Temp\claude\C--Users-blueday-Documents-Lecture-claude-code2-todo-tutorial\389ffc08-7b73-440c-b5b7-f5d2b0b00778\scratchpad\ppt\icons\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915" y="199375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242316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필터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8965" y="274320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· 진행중 · 완료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53872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1" name="Image 3" descr="C:\Users\blueday\AppData\Local\Temp\claude\C--Users-blueday-Documents-Lecture-claude-code2-todo-tutorial\389ffc08-7b73-440c-b5b7-f5d2b0b00778\scratchpad\ppt\icons\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58" y="363967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06908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마감일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38912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마감일 설정 + 마감일순 정렬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8218" y="333756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25" name="Shape 19"/>
          <p:cNvSpPr/>
          <p:nvPr/>
        </p:nvSpPr>
        <p:spPr>
          <a:xfrm>
            <a:off x="4539386" y="353872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6" name="Image 4" descr="C:\Users\blueday\AppData\Local\Temp\claude\C--Users-blueday-Documents-Lecture-claude-code2-todo-tutorial\389ffc08-7b73-440c-b5b7-f5d2b0b00778\scratchpad\ppt\icons\s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6" y="363967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39386" y="406908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39386" y="438912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생성일순 · 이름순 정렬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333756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8965" y="353872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31" name="Image 5" descr="C:\Users\blueday\AppData\Local\Temp\claude\C--Users-blueday-Documents-Lecture-claude-code2-todo-tutorial\389ffc08-7b73-440c-b5b7-f5d2b0b00778\scratchpad\ppt\icons\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915" y="363967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8965" y="406908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28965" y="438912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기준 대소문자 무시 검색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9834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35" name="Shape 27"/>
          <p:cNvSpPr/>
          <p:nvPr/>
        </p:nvSpPr>
        <p:spPr>
          <a:xfrm>
            <a:off x="749808" y="518464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36" name="Image 6" descr="C:\Users\blueday\AppData\Local\Temp\claude\C--Users-blueday-Documents-Lecture-claude-code2-todo-tutorial\389ffc08-7b73-440c-b5b7-f5d2b0b00778\scratchpad\ppt\icons\t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758" y="5285598"/>
            <a:ext cx="218724" cy="21872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" y="571500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태그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49808" y="603504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· 개인 · 쇼핑 색상 태그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38218" y="49834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40" name="Shape 31"/>
          <p:cNvSpPr/>
          <p:nvPr/>
        </p:nvSpPr>
        <p:spPr>
          <a:xfrm>
            <a:off x="4539386" y="518464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41" name="Image 7" descr="C:\Users\blueday\AppData\Local\Temp\claude\C--Users-blueday-Documents-Lecture-claude-code2-todo-tutorial\389ffc08-7b73-440c-b5b7-f5d2b0b00778\scratchpad\ppt\icons\scal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336" y="5285598"/>
            <a:ext cx="218724" cy="21872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539386" y="571500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필터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4539386" y="603504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태그별로 목록 좁혀보기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27797" y="49834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4F3F5"/>
          </a:solidFill>
          <a:ln/>
        </p:spPr>
      </p:sp>
      <p:sp>
        <p:nvSpPr>
          <p:cNvPr id="45" name="Shape 35"/>
          <p:cNvSpPr/>
          <p:nvPr/>
        </p:nvSpPr>
        <p:spPr>
          <a:xfrm>
            <a:off x="8328965" y="518464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46" name="Image 8" descr="C:\Users\blueday\AppData\Local\Temp\claude\C--Users-blueday-Documents-Lecture-claude-code2-todo-tutorial\389ffc08-7b73-440c-b5b7-f5d2b0b00778\scratchpad\ppt\icons\mo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915" y="5285598"/>
            <a:ext cx="218724" cy="21872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328965" y="571500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다크모드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328965" y="6035040"/>
            <a:ext cx="3112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next-themes, 'd' 키 단축키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Code에게 알려주는 프로젝트 규칙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1C1C2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A2A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663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App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Components 우선,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클라이언트 상태는 최소화.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Workflow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패키지 매니저: bun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커밋 메시지: Conventional Commits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(feat:, fix:, refactor:)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Rules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모든 답변은 한국어로 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9" name="Image 0" descr="C:\Users\blueday\AppData\Local\Temp\claude\C--Users-blueday-Documents-Lecture-claude-code2-todo-tutorial\389ffc08-7b73-440c-b5b7-f5d2b0b00778\scratchpad\ppt\icons\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19431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0" y="18013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우선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0" y="2121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상태는 최소한으로만 사용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788920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3" name="Image 1" descr="C:\Users\blueday\AppData\Local\Temp\claude\C--Users-blueday-Documents-Lecture-claude-code2-todo-tutorial\389ffc08-7b73-440c-b5b7-f5d2b0b00778\scratchpad\ppt\icons\check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9032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7614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40880" y="3081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 / fix / refactor 형식으로 커밋 메시지 통일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46520" y="3749040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17" name="Image 2" descr="C:\Users\blueday\AppData\Local\Temp\claude\C--Users-blueday-Documents-Lecture-claude-code2-todo-tutorial\389ffc08-7b73-440c-b5b7-f5d2b0b00778\scratchpad\ppt\icons\sca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38633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3721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 UI 보호 규칙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040880" y="4041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components/ui/ 직접 수정 금지 — 래퍼로 확장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21" name="Image 3" descr="C:\Users\blueday\AppData\Local\Temp\claude\C--Users-blueday-Documents-Lecture-claude-code2-todo-tutorial\389ffc08-7b73-440c-b5b7-f5d2b0b00778\scratchpad\ppt\icons\spark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48234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681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응답 규칙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0" y="5001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Code의 모든 답변은 한국어로 작성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점진적 개발 흐름 (커밋 히스토리)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18665" y="18745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211866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345" y="2103120"/>
            <a:ext cx="27432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2785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설정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9945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 프리셋 적용, GitHub Actions 연동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76265" y="18745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7"/>
          <p:cNvSpPr/>
          <p:nvPr/>
        </p:nvSpPr>
        <p:spPr>
          <a:xfrm>
            <a:off x="577626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945" y="2103120"/>
            <a:ext cx="27432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0385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수립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7545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작성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433865" y="18745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1"/>
          <p:cNvSpPr/>
          <p:nvPr/>
        </p:nvSpPr>
        <p:spPr>
          <a:xfrm>
            <a:off x="943386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07985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구현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45145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기반 Todo CRUD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118665" y="43434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5"/>
          <p:cNvSpPr/>
          <p:nvPr/>
        </p:nvSpPr>
        <p:spPr>
          <a:xfrm>
            <a:off x="2118665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0" name="Image 2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345" y="4572000"/>
            <a:ext cx="27432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2785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도입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29945" y="5486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RTL 테스트 환경 구축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776265" y="43434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19"/>
          <p:cNvSpPr/>
          <p:nvPr/>
        </p:nvSpPr>
        <p:spPr>
          <a:xfrm>
            <a:off x="5776265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25" name="Image 3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945" y="4572000"/>
            <a:ext cx="27432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50385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확장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587545" y="5486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→ 필터 → 마감일 → 정렬 → 검색 → 카테고리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433865" y="43434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3"/>
          <p:cNvSpPr/>
          <p:nvPr/>
        </p:nvSpPr>
        <p:spPr>
          <a:xfrm>
            <a:off x="9433865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8107985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고도화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245145" y="5486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 수정 규칙, 커밋 Skill 자동화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브랜치로 보는 커리큘럼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960588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0588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72536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2536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ch04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84484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4484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96432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196432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96432" y="2971800"/>
            <a:ext cx="121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08380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8380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ch07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20327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0327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ch08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432275" y="1965960"/>
            <a:ext cx="1210780" cy="914400"/>
          </a:xfrm>
          <a:prstGeom prst="roundRect">
            <a:avLst>
              <a:gd name="adj" fmla="val 9000"/>
            </a:avLst>
          </a:prstGeom>
          <a:solidFill>
            <a:srgbClr val="F4F3F5"/>
          </a:solidFill>
          <a:ln w="12700">
            <a:solidFill>
              <a:srgbClr val="E4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32275" y="1965960"/>
            <a:ext cx="1210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ch09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22" name="Image 0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3643884"/>
            <a:ext cx="155448" cy="1554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34930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챕터는 chXX-YY 브랜치로 시작 코드를 제공 (예: git checkout ch02-03)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4279392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25" name="Image 1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4357116"/>
            <a:ext cx="155448" cy="1554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51560" y="4206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8개 챕터, 20개 이상의 레슨 단위 브랜치로 구성된 커리큘럼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48640" y="4992624"/>
            <a:ext cx="310896" cy="310896"/>
          </a:xfrm>
          <a:prstGeom prst="ellipse">
            <a:avLst/>
          </a:prstGeom>
          <a:solidFill>
            <a:srgbClr val="F4F3F5"/>
          </a:solidFill>
          <a:ln/>
        </p:spPr>
      </p:sp>
      <p:pic>
        <p:nvPicPr>
          <p:cNvPr id="28" name="Image 2" descr="C:\Users\blueday\AppData\Local\Temp\claude\C--Users-blueday-Documents-Lecture-claude-code2-todo-tutorial\389ffc08-7b73-440c-b5b7-f5d2b0b00778\scratchpad\ppt\icons\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070348"/>
            <a:ext cx="155448" cy="1554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51560" y="49194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worktree-*, claude/* 브랜치로 Git worktree · 자동화 실습도 함께 제공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저장소에 통합된 Claude Code 자동화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87188" cy="1897380"/>
          </a:xfrm>
          <a:prstGeom prst="roundRect">
            <a:avLst>
              <a:gd name="adj" fmla="val 4819"/>
            </a:avLst>
          </a:prstGeom>
          <a:solidFill>
            <a:srgbClr val="F4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6" name="Image 0" descr="C:\Users\blueday\AppData\Local\Temp\claude\C--Users-blueday-Documents-Lecture-claude-code2-todo-tutorial\389ffc08-7b73-440c-b5b7-f5d2b0b00778\scratchpad\ppt\icons\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4107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claude-code-review.yml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385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PR이 열리면 Claude Code가 자동으로 코드 리뷰를 수행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828800"/>
            <a:ext cx="5387188" cy="1897380"/>
          </a:xfrm>
          <a:prstGeom prst="roundRect">
            <a:avLst>
              <a:gd name="adj" fmla="val 4819"/>
            </a:avLst>
          </a:prstGeom>
          <a:solidFill>
            <a:srgbClr val="F4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6530188" y="2103120"/>
            <a:ext cx="548640" cy="54864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1" name="Image 1" descr="C:\Users\blueday\AppData\Local\Temp\claude\C--Users-blueday-Documents-Lecture-claude-code2-todo-tutorial\389ffc08-7b73-440c-b5b7-f5d2b0b00778\scratchpad\ppt\icons\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1708" y="2103120"/>
            <a:ext cx="4107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claude.yml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0188" y="2788920"/>
            <a:ext cx="48385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· PR 코멘트에서 @claude 멘션으로 작업을 요청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46220"/>
            <a:ext cx="5387188" cy="1897380"/>
          </a:xfrm>
          <a:prstGeom prst="roundRect">
            <a:avLst>
              <a:gd name="adj" fmla="val 4819"/>
            </a:avLst>
          </a:prstGeom>
          <a:solidFill>
            <a:srgbClr val="F4F3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20540"/>
            <a:ext cx="548640" cy="54864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6" name="Image 2" descr="C:\Users\blueday\AppData\Local\Temp\claude\C--Users-blueday-Documents-Lecture-claude-code2-todo-tutorial\389ffc08-7b73-440c-b5b7-f5d2b0b00778\scratchpad\ppt\icons\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577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20540"/>
            <a:ext cx="4107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.claude/skills/commit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5006340"/>
            <a:ext cx="48385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 메시지 작성을 자동화하는 Skill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55868" y="4046220"/>
            <a:ext cx="5387188" cy="1897380"/>
          </a:xfrm>
          <a:prstGeom prst="roundRect">
            <a:avLst>
              <a:gd name="adj" fmla="val 4819"/>
            </a:avLst>
          </a:prstGeom>
          <a:solidFill>
            <a:srgbClr val="F4F3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0188" y="4320540"/>
            <a:ext cx="548640" cy="54864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21" name="Image 3" descr="C:\Users\blueday\AppData\Local\Temp\claude\C--Users-blueday-Documents-Lecture-claude-code2-todo-tutorial\389ffc08-7b73-440c-b5b7-f5d2b0b00778\scratchpad\ppt\icons\sca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4577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1708" y="4320540"/>
            <a:ext cx="4107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.claude/rules/shadcn.md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30188" y="5006340"/>
            <a:ext cx="48385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components/ui/ 경로에 적용되는 코딩 규칙 파일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작은 Todo 앱 하나로, Claude Code의 개발 흐름을 익힙니다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2626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889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6060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26262E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27889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2976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테스트 파일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6060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26262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7889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0467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커리큘럼 챕터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설계부터 테스트 작성, GitHub Actions 자동화까지 — 실제 저장소를 통해 배우는 Claude Code 실습 커리큘럼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todo-tutorial  ·  branch ch06-04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2026-08-19T00:53:59Z</dcterms:created>
  <dcterms:modified xsi:type="dcterms:W3CDTF">2026-08-19T00:53:59Z</dcterms:modified>
</cp:coreProperties>
</file>